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introductory overview for business leaders and practitioners.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design looks beyond the offer itself. It considers whether people value the offer, whether the organization can reliably deliver it, and whether the economics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dimensions are interdependent. A compelling proposition must be matched by capabilities and an economic model that can support its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sequence as a learning loop, not a one-way handoff. Use evidence from customer conversations and practical tests to refine the offer, its delivery, and its economics.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12C9A999-7140-A1CF-1A23-4566B1E811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18" name="Platshållare för text 17">
            <a:extLst>
              <a:ext uri="{FF2B5EF4-FFF2-40B4-BE49-F238E27FC236}">
                <a16:creationId xmlns:a16="http://schemas.microsoft.com/office/drawing/2014/main" id="{0F3EBE70-E918-A317-CA5D-BA61322B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71DB203A-DEDA-EADC-799E-BF0A306056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A05630C-98ED-E946-13DE-F17A7FE6E28C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bg1"/>
                </a:solidFill>
              </a:rPr>
              <a:t>2026</a:t>
            </a:fld>
            <a:endParaRPr lang="en-GB" sz="800">
              <a:solidFill>
                <a:schemeClr val="bg1"/>
              </a:solidFill>
            </a:endParaRP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C1A14D9A-46A9-27E1-4747-AF94EFF076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19807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A05630C-98ED-E946-13DE-F17A7FE6E28C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</a:rPr>
              <a:t>© Ingka Holding B.V. </a:t>
            </a:r>
            <a:fld id="{9A7EFC33-196A-42FA-84EF-2423175A4453}" type="datetimeyyyy">
              <a:rPr lang="en-US" sz="800" smtClean="0">
                <a:solidFill>
                  <a:schemeClr val="bg1"/>
                </a:solidFill>
              </a:rPr>
              <a:t>2026</a:t>
            </a:fld>
            <a:endParaRPr lang="en-GB" sz="800">
              <a:solidFill>
                <a:schemeClr val="bg1"/>
              </a:solidFill>
            </a:endParaRP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77D9BD5-CCD4-1A61-47FC-8ECE505731C4}"/>
              </a:ext>
            </a:extLst>
          </p:cNvPr>
          <p:cNvSpPr txBox="1">
            <a:spLocks/>
          </p:cNvSpPr>
          <p:nvPr userDrawn="1"/>
        </p:nvSpPr>
        <p:spPr>
          <a:xfrm>
            <a:off x="227013" y="6613241"/>
            <a:ext cx="3889375" cy="120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3038" indent="-1730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Tx/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857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1813" indent="-16986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7550" indent="-17462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TRACKER TEXT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6C994B76-1E59-312B-E313-1A5432229B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B95C963-B881-7594-8A46-162C40A957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E8AAA99-3D72-9C8C-380A-6AFC4F3D72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C781D8EE-A2E5-6F12-C05F-4DBA86C7F8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4311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5ACE673D-C6D8-C36B-AEB8-F2D1506372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DEEDA0E-F149-4859-9AE2-E3854A2768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F631E467-B016-5030-1AE9-69E7198348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AA286CE0-CF2D-FBCF-82AF-ED4C08A4DE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60233B4A-4AEE-D01F-4FDE-882A555E0E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Platshållare för text 17">
            <a:extLst>
              <a:ext uri="{FF2B5EF4-FFF2-40B4-BE49-F238E27FC236}">
                <a16:creationId xmlns:a16="http://schemas.microsoft.com/office/drawing/2014/main" id="{72E6AEB1-4F3C-E4AB-299B-B5283B26D3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C94BD93-4BDC-FD51-BCBC-F484476C4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7" name="Platshållare för text 17">
            <a:extLst>
              <a:ext uri="{FF2B5EF4-FFF2-40B4-BE49-F238E27FC236}">
                <a16:creationId xmlns:a16="http://schemas.microsoft.com/office/drawing/2014/main" id="{38D1DD4C-3C37-F624-961D-ABAA6AC5EB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9" name="Platshållare för text 17">
            <a:extLst>
              <a:ext uri="{FF2B5EF4-FFF2-40B4-BE49-F238E27FC236}">
                <a16:creationId xmlns:a16="http://schemas.microsoft.com/office/drawing/2014/main" id="{073BFA81-28FB-E87C-D9DC-547838A86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BD8E086B-A989-FAFF-DB82-571BBF31E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ADE9E4-A754-E60A-DEDC-F83688E8B6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2445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6D92D51F-B895-9D88-10F0-5650129B6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C09B3A22-787A-B9E9-E49A-A996E4820D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F575E412-EF85-4A59-E8E7-CD746EC4BE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2547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3BE6215B-68D2-E407-FB21-05D1F865B8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  <p:sp>
        <p:nvSpPr>
          <p:cNvPr id="10" name="Platshållare för text 17">
            <a:extLst>
              <a:ext uri="{FF2B5EF4-FFF2-40B4-BE49-F238E27FC236}">
                <a16:creationId xmlns:a16="http://schemas.microsoft.com/office/drawing/2014/main" id="{8B40D54F-C3BB-A281-4309-D5D848A672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Platshållare för text 17">
            <a:extLst>
              <a:ext uri="{FF2B5EF4-FFF2-40B4-BE49-F238E27FC236}">
                <a16:creationId xmlns:a16="http://schemas.microsoft.com/office/drawing/2014/main" id="{149DE318-365F-8875-370E-BD72E50BBD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449821B-7694-9E61-EC7C-49CA232D43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9032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Platshållare för text 17">
            <a:extLst>
              <a:ext uri="{FF2B5EF4-FFF2-40B4-BE49-F238E27FC236}">
                <a16:creationId xmlns:a16="http://schemas.microsoft.com/office/drawing/2014/main" id="{CF16C80D-47CA-9152-94BC-99CDC42B7E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6FD61E7E-D288-5C5B-8127-31914EC6FB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4D0CC4D8-7AC4-EAFA-5F18-6694F5F991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  <p:sp>
        <p:nvSpPr>
          <p:cNvPr id="3" name="Platshållare för text 17">
            <a:extLst>
              <a:ext uri="{FF2B5EF4-FFF2-40B4-BE49-F238E27FC236}">
                <a16:creationId xmlns:a16="http://schemas.microsoft.com/office/drawing/2014/main" id="{19AB6D26-9363-6A0B-E9CE-17A06DB0C9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038B7CBA-047E-BE8C-3D9A-E587888A19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/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41BF6797-29D9-8F17-936A-48369771F24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  <p:sp>
        <p:nvSpPr>
          <p:cNvPr id="5" name="Platshållare för text 17">
            <a:extLst>
              <a:ext uri="{FF2B5EF4-FFF2-40B4-BE49-F238E27FC236}">
                <a16:creationId xmlns:a16="http://schemas.microsoft.com/office/drawing/2014/main" id="{A1B933F0-C2C0-E917-9467-E0744C03B9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968" y="0"/>
            <a:ext cx="2844800" cy="358775"/>
          </a:xfrm>
        </p:spPr>
        <p:txBody>
          <a:bodyPr anchor="ctr"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/>
              <a:t>TRACKER TEXT</a:t>
            </a:r>
          </a:p>
        </p:txBody>
      </p:sp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3FC797C-D3B1-2A9E-4E58-E184491CFE46}"/>
              </a:ext>
            </a:extLst>
          </p:cNvPr>
          <p:cNvSpPr txBox="1">
            <a:spLocks/>
          </p:cNvSpPr>
          <p:nvPr userDrawn="1"/>
        </p:nvSpPr>
        <p:spPr>
          <a:xfrm rot="5400000">
            <a:off x="10549069" y="1469388"/>
            <a:ext cx="2879873" cy="359692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Noto IKEA Latin" panose="020B0502040504020204" pitchFamily="34" charset="0"/>
                <a:ea typeface="+mn-ea"/>
                <a:cs typeface="+mn-cs"/>
              </a:defRPr>
            </a:lvl1pPr>
            <a:lvl2pPr marL="0" indent="-342900" algn="l" defTabSz="914377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 spc="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i="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Noto IKEA Latin" panose="020B0502040504020204" pitchFamily="34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600">
                <a:solidFill>
                  <a:srgbClr val="575757"/>
                </a:solidFill>
                <a:latin typeface="Noto IKEA Latin"/>
              </a:rPr>
              <a:t>© Ingka Holding B.V. 2026</a:t>
            </a:r>
            <a:endParaRPr lang="en-GB" sz="800">
              <a:solidFill>
                <a:schemeClr val="tx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practical introduction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better business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business joins value, delivery, and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VALUE — Meet real needs</a:t>
            </a:r>
          </a:p>
          <a:p>
            <a:r>
              <a:t>DELIVERY — Organize delivery</a:t>
            </a:r>
          </a:p>
          <a:p>
            <a:r>
              <a:t>ECONOMICS — Sustain the offer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 learning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Understand needs</a:t>
            </a:r>
          </a:p>
          <a:p>
            <a:r>
              <a:t>Frame the offer</a:t>
            </a:r>
          </a:p>
          <a:p>
            <a:r>
              <a:t>Test demand and delivery</a:t>
            </a:r>
          </a:p>
          <a:p>
            <a:r>
              <a:t>Learn and adapt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